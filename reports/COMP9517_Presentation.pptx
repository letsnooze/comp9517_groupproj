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2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3A2F"/>
                </a:solidFill>
                <a:latin typeface="Arial"/>
              </a:rPr>
              <a:t>IoU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IoU</c:v>
                </c:pt>
              </c:strCache>
            </c:strRef>
          </c:tx>
          <c:spPr>
            <a:solidFill>
              <a:srgbClr val="74C69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B2D-3F42-823C-E3885AF0DBD0}"/>
              </c:ext>
            </c:extLst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2D-3F42-823C-E3885AF0DBD0}"/>
              </c:ext>
            </c:extLst>
          </c:dPt>
          <c:dPt>
            <c:idx val="2"/>
            <c:invertIfNegative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B2D-3F42-823C-E3885AF0DBD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Method 1
(Watershed)</c:v>
                </c:pt>
                <c:pt idx="1">
                  <c:v>Method 2
(Random Forest)</c:v>
                </c:pt>
                <c:pt idx="2">
                  <c:v>Method 3
(U-Net)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0.41499999999999998</c:v>
                </c:pt>
                <c:pt idx="1">
                  <c:v>0.85</c:v>
                </c:pt>
                <c:pt idx="2">
                  <c:v>0.874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B2D-3F42-823C-E3885AF0DB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M1 Watershed</c:v>
                </c:pt>
              </c:strCache>
            </c:strRef>
          </c:tx>
          <c:spPr>
            <a:ln w="31750" cap="flat">
              <a:solidFill>
                <a:srgbClr val="95D5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5D5B2"/>
              </a:solidFill>
              <a:ln w="9525" cap="flat">
                <a:solidFill>
                  <a:srgbClr val="95D5B2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Clean</c:v>
                </c:pt>
                <c:pt idx="1">
                  <c:v>Noise
σ=15</c:v>
                </c:pt>
                <c:pt idx="2">
                  <c:v>Noise
σ=40</c:v>
                </c:pt>
                <c:pt idx="3">
                  <c:v>Blur
σ=1.5</c:v>
                </c:pt>
                <c:pt idx="4">
                  <c:v>Blur
σ=3.0</c:v>
                </c:pt>
                <c:pt idx="5">
                  <c:v>Dark
×0.7</c:v>
                </c:pt>
                <c:pt idx="6">
                  <c:v>Dark
×0.4</c:v>
                </c:pt>
                <c:pt idx="7">
                  <c:v>Lo-Con
×0.7</c:v>
                </c:pt>
                <c:pt idx="8">
                  <c:v>Lo-Con
×0.4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0.41499999999999998</c:v>
                </c:pt>
                <c:pt idx="1">
                  <c:v>0.47399999999999998</c:v>
                </c:pt>
                <c:pt idx="2">
                  <c:v>0.54200000000000004</c:v>
                </c:pt>
                <c:pt idx="3">
                  <c:v>0.39900000000000002</c:v>
                </c:pt>
                <c:pt idx="4">
                  <c:v>0.38900000000000001</c:v>
                </c:pt>
                <c:pt idx="5">
                  <c:v>0.42399999999999999</c:v>
                </c:pt>
                <c:pt idx="6">
                  <c:v>0.44800000000000001</c:v>
                </c:pt>
                <c:pt idx="7">
                  <c:v>0.41699999999999998</c:v>
                </c:pt>
                <c:pt idx="8">
                  <c:v>0.42399999999999999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7C-BD48-82FC-120C32AE0C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M2 Rand.Forest</c:v>
                </c:pt>
              </c:strCache>
            </c:strRef>
          </c:tx>
          <c:spPr>
            <a:ln w="31750" cap="flat">
              <a:solidFill>
                <a:srgbClr val="2D6A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Clean</c:v>
                </c:pt>
                <c:pt idx="1">
                  <c:v>Noise
σ=15</c:v>
                </c:pt>
                <c:pt idx="2">
                  <c:v>Noise
σ=40</c:v>
                </c:pt>
                <c:pt idx="3">
                  <c:v>Blur
σ=1.5</c:v>
                </c:pt>
                <c:pt idx="4">
                  <c:v>Blur
σ=3.0</c:v>
                </c:pt>
                <c:pt idx="5">
                  <c:v>Dark
×0.7</c:v>
                </c:pt>
                <c:pt idx="6">
                  <c:v>Dark
×0.4</c:v>
                </c:pt>
                <c:pt idx="7">
                  <c:v>Lo-Con
×0.7</c:v>
                </c:pt>
                <c:pt idx="8">
                  <c:v>Lo-Con
×0.4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0.85</c:v>
                </c:pt>
                <c:pt idx="1">
                  <c:v>0.73299999999999998</c:v>
                </c:pt>
                <c:pt idx="2">
                  <c:v>0.67200000000000004</c:v>
                </c:pt>
                <c:pt idx="3">
                  <c:v>0.83799999999999997</c:v>
                </c:pt>
                <c:pt idx="4">
                  <c:v>0.79800000000000004</c:v>
                </c:pt>
                <c:pt idx="5">
                  <c:v>0.81399999999999995</c:v>
                </c:pt>
                <c:pt idx="6">
                  <c:v>0.72299999999999998</c:v>
                </c:pt>
                <c:pt idx="7">
                  <c:v>0.82</c:v>
                </c:pt>
                <c:pt idx="8">
                  <c:v>0.64800000000000002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77C-BD48-82FC-120C32AE0C3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M3 U-Net</c:v>
                </c:pt>
              </c:strCache>
            </c:strRef>
          </c:tx>
          <c:spPr>
            <a:ln w="31750" cap="flat">
              <a:solidFill>
                <a:srgbClr val="1B43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332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Clean</c:v>
                </c:pt>
                <c:pt idx="1">
                  <c:v>Noise
σ=15</c:v>
                </c:pt>
                <c:pt idx="2">
                  <c:v>Noise
σ=40</c:v>
                </c:pt>
                <c:pt idx="3">
                  <c:v>Blur
σ=1.5</c:v>
                </c:pt>
                <c:pt idx="4">
                  <c:v>Blur
σ=3.0</c:v>
                </c:pt>
                <c:pt idx="5">
                  <c:v>Dark
×0.7</c:v>
                </c:pt>
                <c:pt idx="6">
                  <c:v>Dark
×0.4</c:v>
                </c:pt>
                <c:pt idx="7">
                  <c:v>Lo-Con
×0.7</c:v>
                </c:pt>
                <c:pt idx="8">
                  <c:v>Lo-Con
×0.4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0.874</c:v>
                </c:pt>
                <c:pt idx="1">
                  <c:v>0.83099999999999996</c:v>
                </c:pt>
                <c:pt idx="2">
                  <c:v>0.72799999999999998</c:v>
                </c:pt>
                <c:pt idx="3">
                  <c:v>0.86399999999999999</c:v>
                </c:pt>
                <c:pt idx="4">
                  <c:v>0.81499999999999995</c:v>
                </c:pt>
                <c:pt idx="5">
                  <c:v>0.84399999999999997</c:v>
                </c:pt>
                <c:pt idx="6">
                  <c:v>0.74</c:v>
                </c:pt>
                <c:pt idx="7">
                  <c:v>0.83099999999999996</c:v>
                </c:pt>
                <c:pt idx="8">
                  <c:v>0.59699999999999998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77C-BD48-82FC-120C32AE0C3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M3-R (Robust)</c:v>
                </c:pt>
              </c:strCache>
            </c:strRef>
          </c:tx>
          <c:spPr>
            <a:ln w="31750" cap="flat">
              <a:solidFill>
                <a:srgbClr val="E76F5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Clean</c:v>
                </c:pt>
                <c:pt idx="1">
                  <c:v>Noise
σ=15</c:v>
                </c:pt>
                <c:pt idx="2">
                  <c:v>Noise
σ=40</c:v>
                </c:pt>
                <c:pt idx="3">
                  <c:v>Blur
σ=1.5</c:v>
                </c:pt>
                <c:pt idx="4">
                  <c:v>Blur
σ=3.0</c:v>
                </c:pt>
                <c:pt idx="5">
                  <c:v>Dark
×0.7</c:v>
                </c:pt>
                <c:pt idx="6">
                  <c:v>Dark
×0.4</c:v>
                </c:pt>
                <c:pt idx="7">
                  <c:v>Lo-Con
×0.7</c:v>
                </c:pt>
                <c:pt idx="8">
                  <c:v>Lo-Con
×0.4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0.86099999999999999</c:v>
                </c:pt>
                <c:pt idx="1">
                  <c:v>0.83799999999999997</c:v>
                </c:pt>
                <c:pt idx="2">
                  <c:v>0.77200000000000002</c:v>
                </c:pt>
                <c:pt idx="3">
                  <c:v>0.85499999999999998</c:v>
                </c:pt>
                <c:pt idx="4">
                  <c:v>0.83299999999999996</c:v>
                </c:pt>
                <c:pt idx="5">
                  <c:v>0.80600000000000005</c:v>
                </c:pt>
                <c:pt idx="6">
                  <c:v>0.69699999999999995</c:v>
                </c:pt>
                <c:pt idx="7">
                  <c:v>0.84399999999999997</c:v>
                </c:pt>
                <c:pt idx="8">
                  <c:v>0.76200000000000001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77C-BD48-82FC-120C32AE0C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M1 Watershed (baseline)</c:v>
                </c:pt>
              </c:strCache>
            </c:strRef>
          </c:tx>
          <c:spPr>
            <a:ln w="31750" cap="flat">
              <a:solidFill>
                <a:srgbClr val="95D5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5D5B2"/>
              </a:solidFill>
              <a:ln w="9525" cap="flat">
                <a:solidFill>
                  <a:srgbClr val="95D5B2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25%
(35 imgs)</c:v>
                </c:pt>
                <c:pt idx="1">
                  <c:v>50%
(71 imgs)</c:v>
                </c:pt>
                <c:pt idx="2">
                  <c:v>75%
(106 imgs)</c:v>
                </c:pt>
                <c:pt idx="3">
                  <c:v>100%
(142 imgs)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0.41499999999999998</c:v>
                </c:pt>
                <c:pt idx="1">
                  <c:v>0.41499999999999998</c:v>
                </c:pt>
                <c:pt idx="2">
                  <c:v>0.41499999999999998</c:v>
                </c:pt>
                <c:pt idx="3">
                  <c:v>0.41499999999999998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C7-4649-AB18-E7811167DC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M2 Random Forest</c:v>
                </c:pt>
              </c:strCache>
            </c:strRef>
          </c:tx>
          <c:spPr>
            <a:ln w="31750" cap="flat">
              <a:solidFill>
                <a:srgbClr val="2D6A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25%
(35 imgs)</c:v>
                </c:pt>
                <c:pt idx="1">
                  <c:v>50%
(71 imgs)</c:v>
                </c:pt>
                <c:pt idx="2">
                  <c:v>75%
(106 imgs)</c:v>
                </c:pt>
                <c:pt idx="3">
                  <c:v>100%
(142 imgs)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0.84799999999999998</c:v>
                </c:pt>
                <c:pt idx="1">
                  <c:v>0.82599999999999996</c:v>
                </c:pt>
                <c:pt idx="2">
                  <c:v>0.84599999999999997</c:v>
                </c:pt>
                <c:pt idx="3">
                  <c:v>0.85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C7-4649-AB18-E7811167DC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M3 U-Net</c:v>
                </c:pt>
              </c:strCache>
            </c:strRef>
          </c:tx>
          <c:spPr>
            <a:ln w="31750" cap="flat">
              <a:solidFill>
                <a:srgbClr val="1B43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332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25%
(35 imgs)</c:v>
                </c:pt>
                <c:pt idx="1">
                  <c:v>50%
(71 imgs)</c:v>
                </c:pt>
                <c:pt idx="2">
                  <c:v>75%
(106 imgs)</c:v>
                </c:pt>
                <c:pt idx="3">
                  <c:v>100%
(142 imgs)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0.85199999999999998</c:v>
                </c:pt>
                <c:pt idx="1">
                  <c:v>0.86699999999999999</c:v>
                </c:pt>
                <c:pt idx="2">
                  <c:v>0.86899999999999999</c:v>
                </c:pt>
                <c:pt idx="3">
                  <c:v>0.874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EC7-4649-AB18-E7811167DC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67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Crop Segmentation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Field Images Under Diverse Conditions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41148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"Vision Pro"  ·  Chenci Liu · Jianyu Zhou · Junwen Xue · Liuyunan He · Mengyang Yuan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463040"/>
            <a:ext cx="1554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🌾</a:t>
            </a:r>
            <a:endParaRPr lang="en-US" sz="5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02920" cy="11887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9784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EWS dataset, task definition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502920" cy="11887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4754880" y="8686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9784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methods for crop segmentation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2199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274320" y="2221992"/>
            <a:ext cx="502920" cy="11887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274320" y="2221992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(M1 / M2 / M3 / M3-R)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8163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· ML · Deep Learning · Improvement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2199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4754880" y="2221992"/>
            <a:ext cx="502920" cy="11887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4754880" y="2221992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&amp; Results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8163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comparison, robustness, data reduction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75304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5" name="Shape 23"/>
          <p:cNvSpPr/>
          <p:nvPr/>
        </p:nvSpPr>
        <p:spPr>
          <a:xfrm>
            <a:off x="274320" y="3575304"/>
            <a:ext cx="502920" cy="11887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274320" y="3575304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36850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1696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limitations, future work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75304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0" name="Shape 28"/>
          <p:cNvSpPr/>
          <p:nvPr/>
        </p:nvSpPr>
        <p:spPr>
          <a:xfrm>
            <a:off x="4754880" y="3575304"/>
            <a:ext cx="502920" cy="11887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4754880" y="3575304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6850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1696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&amp; outputs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Wheat Segmentation?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crop monitoring across growing seasons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early detection of pest and disease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wheat from weeds automatically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yield estimation and phenotyping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822960"/>
            <a:ext cx="39319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4937760" y="822960"/>
            <a:ext cx="393192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493776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261872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illumination &amp; cast shadows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and plant colours can be similar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appearance changes (Feb – May)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stems and partial occlusions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794760"/>
            <a:ext cx="8412480" cy="713232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 Given a 350×350 RGB wheat field image → output a binary mask  (plant = 1,  soil = 0)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EWS (Eschikon Wheat Segmentation)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011680" cy="11887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804672"/>
            <a:ext cx="2011680" cy="11887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2468880" y="8046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× 350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(RGB)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2011680" cy="11887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4663440" y="8046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/ 24 / 24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1508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804672"/>
            <a:ext cx="2011680" cy="11887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6858000" y="8046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1508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vs Soil Masks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1762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Properties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2578608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Zurich Eschikon field station; training spans 2017–2020 (Nov–Apr, no May); val/test from 2017 only (Feb–May)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illumination: early morning, midday, overcast, shadows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binary annotation: wheat plant (foreground) vs soil/ground (background)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train/val/test split — never mixed to prevent data leakage</a:t>
            </a:r>
            <a:endParaRPr lang="en-US" sz="1200" dirty="0"/>
          </a:p>
        </p:txBody>
      </p:sp>
      <p:pic>
        <p:nvPicPr>
          <p:cNvPr id="18" name="Picture 17" descr="FPWW0180374_RGB1_20170222_133502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176272"/>
            <a:ext cx="1234440" cy="10789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52160" y="3285264"/>
            <a:ext cx="123444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Feb</a:t>
            </a:r>
          </a:p>
        </p:txBody>
      </p:sp>
      <p:pic>
        <p:nvPicPr>
          <p:cNvPr id="20" name="Picture 19" descr="FPWW0180049_RGB1_20170308_113954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176272"/>
            <a:ext cx="1234440" cy="10789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69480" y="3285264"/>
            <a:ext cx="123444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555555"/>
                </a:solidFill>
              </a:rPr>
              <a:t>Mar</a:t>
            </a:r>
          </a:p>
        </p:txBody>
      </p:sp>
      <p:pic>
        <p:nvPicPr>
          <p:cNvPr id="22" name="Picture 21" descr="FPWW0180049_RGB1_20170412_132427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584000"/>
            <a:ext cx="1234440" cy="10789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52160" y="4706596"/>
            <a:ext cx="123444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555555"/>
                </a:solidFill>
              </a:rPr>
              <a:t>Apr</a:t>
            </a:r>
          </a:p>
        </p:txBody>
      </p:sp>
      <p:pic>
        <p:nvPicPr>
          <p:cNvPr id="24" name="Picture 23" descr="FPWW0180049_RGB1_20170517_142522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3565264"/>
            <a:ext cx="1234440" cy="10789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46620" y="4706596"/>
            <a:ext cx="123444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555555"/>
                </a:solidFill>
              </a:rPr>
              <a:t>May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 algorithm (marker-based)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GrabCut — iterative graph-cut refinement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indices: ExG, ExR, ExGR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496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SIGGRAPH 2004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148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480060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2344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Handcrafted feature descriptors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pixel classifier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spaces: RGB, HSV, chromaticity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496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907792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274320" y="2907792"/>
            <a:ext cx="4114800" cy="3474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365760" y="2907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31927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encoder-decoder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BCE segmentation loss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(flips, colour jitter, Gaussian noise)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5811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Ronneberger et al. 2015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907792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4709160" y="2907792"/>
            <a:ext cx="4114800" cy="347472"/>
          </a:xfrm>
          <a:prstGeom prst="rect">
            <a:avLst/>
          </a:prstGeom>
          <a:solidFill>
            <a:srgbClr val="A07000"/>
          </a:solidFill>
          <a:ln w="12700">
            <a:solidFill>
              <a:srgbClr val="A0700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4800600" y="2907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Crop-Specific Work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31927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EWS dataset (Zenkl et al. 2022)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DepthCropSeg++ (Zhang et al. 2026)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Depth-informed pseudo-label segmentation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45811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Frontiers Plant Science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Watershed + GrabCut  (Unsupervised)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the fact that wheat is greener than soil.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per-pixel vegetation score → seed-based Watershed segmentation (Watershed variant selected for speed).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6320" cy="141732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Score Formulas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Watershed:  </a:t>
            </a: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1.7·ExG + 0.9·GreenDom + 0.4·Sat − 0.15·|∇|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GrabCut:      </a:t>
            </a:r>
            <a:r>
              <a:rPr lang="en-US" sz="1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1.5·ExG + 0.9·GreenDom + 0.35·Sat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6393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variants tested on val set: Watershed (IoU=0.444) vs GrabCut (IoU=0.472). Watershed selected: comparable accuracy, much faster tuning.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8229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0" y="1261872"/>
            <a:ext cx="402336" cy="402336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5486400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9320" y="12893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ExG &amp; vegetation score 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87568" y="1664208"/>
            <a:ext cx="0" cy="27432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5486400" y="1938528"/>
            <a:ext cx="402336" cy="402336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486400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1965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foreground / background seed masks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87568" y="2340864"/>
            <a:ext cx="0" cy="27432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5486400" y="2615184"/>
            <a:ext cx="402336" cy="402336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5486400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89320" y="26426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Watershed segmentation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87568" y="3017520"/>
            <a:ext cx="0" cy="27432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5486400" y="3291840"/>
            <a:ext cx="402336" cy="402336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5486400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89320" y="33192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post-processing (opening + closing + remove &lt; 96 px)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87568" y="3694176"/>
            <a:ext cx="0" cy="27432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Shape 25"/>
          <p:cNvSpPr/>
          <p:nvPr/>
        </p:nvSpPr>
        <p:spPr>
          <a:xfrm>
            <a:off x="5486400" y="3968496"/>
            <a:ext cx="402336" cy="402336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5486400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89320" y="39959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Handcrafted Features + Random Forest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26-Dimensional Feature Vector (per pixel)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17190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719072" cy="1828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values (3)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G, B channel values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12848" y="1261872"/>
            <a:ext cx="17190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2212848" y="1261872"/>
            <a:ext cx="1719072" cy="1828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2258568" y="126187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values (3)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58568" y="14630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Hue, Saturation, Value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59936" y="1261872"/>
            <a:ext cx="17190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4059936" y="1261872"/>
            <a:ext cx="1719072" cy="1828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4105656" y="126187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Chromaticity (3)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05656" y="14630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r, g, 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920240"/>
            <a:ext cx="17190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365760" y="1920240"/>
            <a:ext cx="1719072" cy="1828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411480" y="192024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RGB mean (3)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21214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9×9 window average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12848" y="1920240"/>
            <a:ext cx="17190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2212848" y="1920240"/>
            <a:ext cx="1719072" cy="1828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2258568" y="192024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HSV mean (3)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58568" y="21214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9×9 window average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59936" y="1920240"/>
            <a:ext cx="17190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Shape 24"/>
          <p:cNvSpPr/>
          <p:nvPr/>
        </p:nvSpPr>
        <p:spPr>
          <a:xfrm>
            <a:off x="4059936" y="1920240"/>
            <a:ext cx="1719072" cy="1828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4105656" y="192024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Veg. indices (3)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05656" y="21214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ExG, ExR, ExGR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578608"/>
            <a:ext cx="17190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Shape 28"/>
          <p:cNvSpPr/>
          <p:nvPr/>
        </p:nvSpPr>
        <p:spPr>
          <a:xfrm>
            <a:off x="365760" y="2578608"/>
            <a:ext cx="1719072" cy="1828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411480" y="2578608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ExG statistics (3)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277977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ExG mean, var, ExGR mean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12848" y="2578608"/>
            <a:ext cx="17190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Shape 32"/>
          <p:cNvSpPr/>
          <p:nvPr/>
        </p:nvSpPr>
        <p:spPr>
          <a:xfrm>
            <a:off x="2212848" y="2578608"/>
            <a:ext cx="1719072" cy="1828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5" name="Text 33"/>
          <p:cNvSpPr/>
          <p:nvPr/>
        </p:nvSpPr>
        <p:spPr>
          <a:xfrm>
            <a:off x="2258568" y="2578608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Greyscale stats (3)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258568" y="277977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Grey, local mean/std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059936" y="2578608"/>
            <a:ext cx="17190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8" name="Shape 36"/>
          <p:cNvSpPr/>
          <p:nvPr/>
        </p:nvSpPr>
        <p:spPr>
          <a:xfrm>
            <a:off x="4059936" y="2578608"/>
            <a:ext cx="1719072" cy="1828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Text 37"/>
          <p:cNvSpPr/>
          <p:nvPr/>
        </p:nvSpPr>
        <p:spPr>
          <a:xfrm>
            <a:off x="4105656" y="2578608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(2)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05656" y="277977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gradient, ExG gradient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52160" y="822960"/>
            <a:ext cx="30175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2" name="Shape 40"/>
          <p:cNvSpPr/>
          <p:nvPr/>
        </p:nvSpPr>
        <p:spPr>
          <a:xfrm>
            <a:off x="5852160" y="822960"/>
            <a:ext cx="301752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3" name="Text 41"/>
          <p:cNvSpPr/>
          <p:nvPr/>
        </p:nvSpPr>
        <p:spPr>
          <a:xfrm>
            <a:off x="5852160" y="822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Settings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89320" y="12618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06640" y="12618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trees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89320" y="17007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06640" y="170078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89320" y="21396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406640" y="213969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balanced_subsample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989320" y="25786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06640" y="25786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on validation set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989320" y="3017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candidates: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406640" y="3017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[0.35 … 0.65]  (7 values)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989320" y="34564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random_state: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406640" y="34564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(reproducible)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morphological closing (2×2) + remove components &lt; 96 px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3: Lightweight U-Net (Deep Learning)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(base_channels = 16, ≈ 490 K parameters)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777240" cy="438912"/>
          </a:xfrm>
          <a:prstGeom prst="rect">
            <a:avLst/>
          </a:prstGeom>
          <a:solidFill>
            <a:srgbClr val="B7E4C7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43000" y="1636776"/>
            <a:ext cx="137160" cy="0"/>
          </a:xfrm>
          <a:prstGeom prst="line">
            <a:avLst/>
          </a:prstGeom>
          <a:noFill/>
          <a:ln w="1905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Shape 6"/>
          <p:cNvSpPr/>
          <p:nvPr/>
        </p:nvSpPr>
        <p:spPr>
          <a:xfrm>
            <a:off x="1280160" y="1385316"/>
            <a:ext cx="868680" cy="502920"/>
          </a:xfrm>
          <a:prstGeom prst="rect">
            <a:avLst/>
          </a:prstGeom>
          <a:solidFill>
            <a:srgbClr val="74C69D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280160" y="1385316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48840" y="1636776"/>
            <a:ext cx="137160" cy="0"/>
          </a:xfrm>
          <a:prstGeom prst="line">
            <a:avLst/>
          </a:prstGeom>
          <a:noFill/>
          <a:ln w="1905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2286000" y="1353312"/>
            <a:ext cx="868680" cy="566928"/>
          </a:xfrm>
          <a:prstGeom prst="rect">
            <a:avLst/>
          </a:prstGeom>
          <a:solidFill>
            <a:srgbClr val="52B788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2286000" y="135331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54680" y="1636776"/>
            <a:ext cx="137160" cy="0"/>
          </a:xfrm>
          <a:prstGeom prst="line">
            <a:avLst/>
          </a:prstGeom>
          <a:noFill/>
          <a:ln w="1905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291840" y="1321308"/>
            <a:ext cx="868680" cy="630936"/>
          </a:xfrm>
          <a:prstGeom prst="rect">
            <a:avLst/>
          </a:prstGeom>
          <a:solidFill>
            <a:srgbClr val="40916C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3291840" y="1321308"/>
            <a:ext cx="868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60520" y="1636776"/>
            <a:ext cx="137160" cy="0"/>
          </a:xfrm>
          <a:prstGeom prst="line">
            <a:avLst/>
          </a:prstGeom>
          <a:noFill/>
          <a:ln w="1905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4297680" y="1289304"/>
            <a:ext cx="1005840" cy="694944"/>
          </a:xfrm>
          <a:prstGeom prst="rect">
            <a:avLst/>
          </a:prstGeom>
          <a:solidFill>
            <a:srgbClr val="1B4332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4297680" y="1289304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ch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977640" y="2423160"/>
            <a:ext cx="868680" cy="630936"/>
          </a:xfrm>
          <a:prstGeom prst="rect">
            <a:avLst/>
          </a:prstGeom>
          <a:solidFill>
            <a:srgbClr val="40916C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3977640" y="2423160"/>
            <a:ext cx="8686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40480" y="2738628"/>
            <a:ext cx="137160" cy="0"/>
          </a:xfrm>
          <a:prstGeom prst="line">
            <a:avLst/>
          </a:prstGeom>
          <a:noFill/>
          <a:ln w="1905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2971800" y="2455164"/>
            <a:ext cx="868680" cy="566928"/>
          </a:xfrm>
          <a:prstGeom prst="rect">
            <a:avLst/>
          </a:prstGeom>
          <a:solidFill>
            <a:srgbClr val="52B788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2971800" y="2455164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834640" y="2738628"/>
            <a:ext cx="137160" cy="0"/>
          </a:xfrm>
          <a:prstGeom prst="line">
            <a:avLst/>
          </a:prstGeom>
          <a:noFill/>
          <a:ln w="1905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Shape 23"/>
          <p:cNvSpPr/>
          <p:nvPr/>
        </p:nvSpPr>
        <p:spPr>
          <a:xfrm>
            <a:off x="1965960" y="2487168"/>
            <a:ext cx="868680" cy="502920"/>
          </a:xfrm>
          <a:prstGeom prst="rect">
            <a:avLst/>
          </a:prstGeom>
          <a:solidFill>
            <a:srgbClr val="74C69D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1965960" y="248716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143000" y="2738628"/>
            <a:ext cx="822960" cy="0"/>
          </a:xfrm>
          <a:prstGeom prst="line">
            <a:avLst/>
          </a:prstGeom>
          <a:noFill/>
          <a:ln w="1905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Shape 26"/>
          <p:cNvSpPr/>
          <p:nvPr/>
        </p:nvSpPr>
        <p:spPr>
          <a:xfrm>
            <a:off x="365760" y="2519172"/>
            <a:ext cx="777240" cy="438912"/>
          </a:xfrm>
          <a:prstGeom prst="rect">
            <a:avLst/>
          </a:prstGeom>
          <a:solidFill>
            <a:srgbClr val="B7E4C7"/>
          </a:solidFill>
          <a:ln w="635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365760" y="2519172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97280" y="2084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skip connections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822960"/>
            <a:ext cx="2926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2" name="Shape 30"/>
          <p:cNvSpPr/>
          <p:nvPr/>
        </p:nvSpPr>
        <p:spPr>
          <a:xfrm>
            <a:off x="5943600" y="822960"/>
            <a:ext cx="29260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5943600" y="822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Settings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12618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69480" y="12618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+ BCE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1664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69480" y="16642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20665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69480" y="20665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80760" y="2468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69480" y="2468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80760" y="28712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69480" y="28712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80760" y="32735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69480" y="32735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(base)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80760" y="36758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269480" y="36758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on val set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80760" y="40782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269480" y="40782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+ colour jitter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closing (2×2) + remove components &lt; 96 px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M3-R: Robustness Improvement  (Advanced Method Development)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83464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8346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347472" y="886968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347472" y="886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822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280160"/>
            <a:ext cx="2606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benchmark reveals: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on Low-contrast ×0.4: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 0.874 → 0.596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ΔIoU = −0.278  (worst drop)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reduction flattens colour differences, making plant and soil pixels look similar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83464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3246120" y="822960"/>
            <a:ext cx="2834640" cy="384048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3319272" y="886968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3319272" y="886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30168" y="822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Designed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1280160"/>
            <a:ext cx="2606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 augmentation during training  (p = 0.70):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Gaussian noise  σ ∈ [10, 45]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Gaussian blur  σ ∈ [1.0, 3.5]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Brightness  × [0.35, 0.75]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Contrast  × [0.35, 0.75]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distortion_augment: true added to config — all other hyperparameters unchanged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822960"/>
            <a:ext cx="283464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6217920" y="822960"/>
            <a:ext cx="283464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6291072" y="886968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6291072" y="886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01968" y="822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Achieved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27648" y="1280160"/>
            <a:ext cx="2606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Low-contrast ×0.4: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  → 0.596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M3-R → 0.762  (+0.166)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images: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  → 0.874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M3-R → 0.861  (−0.013)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accuracy/robustness trade-off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960120" cy="402336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12618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(TP+FP+FN)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12618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960120" cy="402336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7830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2·Precision·Recall / (P+R)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7830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04288"/>
            <a:ext cx="960120" cy="402336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365760" y="230428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23042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(TP+FP)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3042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25496"/>
            <a:ext cx="960120" cy="402336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365760" y="2825496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28254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8254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346704"/>
            <a:ext cx="960120" cy="402336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365760" y="334670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Acc.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3467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(TP+TN) / total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822960"/>
            <a:ext cx="40233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6" name="Shape 24"/>
          <p:cNvSpPr/>
          <p:nvPr/>
        </p:nvSpPr>
        <p:spPr>
          <a:xfrm>
            <a:off x="4846320" y="822960"/>
            <a:ext cx="402336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484632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Experiments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83480" y="1280160"/>
            <a:ext cx="402336" cy="402336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Text 27"/>
          <p:cNvSpPr/>
          <p:nvPr/>
        </p:nvSpPr>
        <p:spPr>
          <a:xfrm>
            <a:off x="4983480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Comparison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16733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all 3 methods on full training set; evaluate on test set; report 5 metrics + train/infer time.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2377440"/>
            <a:ext cx="402336" cy="402336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498348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Benchmark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0" y="27706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once on clean data; test under 9 distortion conditions; compare M3 vs M3-R.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83480" y="3474720"/>
            <a:ext cx="402336" cy="402336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4983480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Reduction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0" y="386791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at 25%/50%/75%/100% of training data; evaluate test IoU; M1 flat baseline.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Method Comparison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45720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029200" y="777240"/>
            <a:ext cx="384048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Text 3"/>
          <p:cNvSpPr/>
          <p:nvPr/>
        </p:nvSpPr>
        <p:spPr>
          <a:xfrm>
            <a:off x="516636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166360" y="1353312"/>
            <a:ext cx="35204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(U-Net) best IoU = 0.874, outperforms M1 by +0.459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(RF) competitive at 0.850 — much simpler architecture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limited at 0.415 — colour heuristics fail on diverse conditions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trains in similar time to M2 (119 s vs 126 s) — 11.6× faster inference (0.028 vs 0.325 s/img)</a:t>
            </a:r>
            <a:endParaRPr lang="en-US" sz="1100" dirty="0"/>
          </a:p>
        </p:txBody>
      </p:sp>
      <p:graphicFrame>
        <p:nvGraphicFramePr>
          <p:cNvPr id="200" name="Table_Per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776912"/>
              </p:ext>
            </p:extLst>
          </p:nvPr>
        </p:nvGraphicFramePr>
        <p:xfrm>
          <a:off x="274320" y="3931920"/>
          <a:ext cx="7300000" cy="1036320"/>
        </p:xfrm>
        <a:graphic>
          <a:graphicData uri="http://schemas.openxmlformats.org/drawingml/2006/table">
            <a:tbl>
              <a:tblPr/>
              <a:tblGrid>
                <a:gridCol w="2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Method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IoU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F1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Prec.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Recall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Train(s)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Infer(s/img)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0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b="0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M1 Watershed</a:t>
                      </a:r>
                    </a:p>
                  </a:txBody>
                  <a:tcPr anchor="ctr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0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0.415</a:t>
                      </a:r>
                    </a:p>
                  </a:txBody>
                  <a:tcPr anchor="ctr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0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0.553</a:t>
                      </a:r>
                    </a:p>
                  </a:txBody>
                  <a:tcPr anchor="ctr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0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0.574</a:t>
                      </a:r>
                    </a:p>
                  </a:txBody>
                  <a:tcPr anchor="ctr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0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0.585</a:t>
                      </a:r>
                    </a:p>
                  </a:txBody>
                  <a:tcPr anchor="ctr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0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34</a:t>
                      </a:r>
                    </a:p>
                  </a:txBody>
                  <a:tcPr anchor="ctr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0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0.021</a:t>
                      </a:r>
                    </a:p>
                  </a:txBody>
                  <a:tcPr anchor="ctr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0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b="0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M2 Rand. Forest</a:t>
                      </a:r>
                    </a:p>
                  </a:txBody>
                  <a:tcPr anchor="ctr"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0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0.850</a:t>
                      </a:r>
                    </a:p>
                  </a:txBody>
                  <a:tcPr anchor="ctr"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0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0.916</a:t>
                      </a:r>
                    </a:p>
                  </a:txBody>
                  <a:tcPr anchor="ctr"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0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0.915</a:t>
                      </a:r>
                    </a:p>
                  </a:txBody>
                  <a:tcPr anchor="ctr"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0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0.926</a:t>
                      </a:r>
                    </a:p>
                  </a:txBody>
                  <a:tcPr anchor="ctr"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0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126</a:t>
                      </a:r>
                    </a:p>
                  </a:txBody>
                  <a:tcPr anchor="ctr"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0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0.325</a:t>
                      </a:r>
                    </a:p>
                  </a:txBody>
                  <a:tcPr anchor="ctr"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0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M3 U-Net ★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0.874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0.931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0.922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0.941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119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</a:rPr>
                        <a:t>0.028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RESULTS: Seasonal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822960"/>
          <a:ext cx="338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Month</a:t>
                      </a:r>
                    </a:p>
                  </a:txBody>
                  <a:tcPr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M1 IoU</a:t>
                      </a:r>
                    </a:p>
                  </a:txBody>
                  <a:tcPr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M2 IoU</a:t>
                      </a:r>
                    </a:p>
                  </a:txBody>
                  <a:tcPr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M3 IoU</a:t>
                      </a:r>
                    </a:p>
                  </a:txBody>
                  <a:tcPr>
                    <a:solidFill>
                      <a:srgbClr val="1E3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0.713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0.977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0.977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0.573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0.923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0.926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0.292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0.817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0.863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0.272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0.763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</a:rPr>
                        <a:t>0.796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67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</a:rPr>
                        <a:t>0.415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</a:rPr>
                        <a:t>0.850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</a:rPr>
                        <a:t>0.874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37760" y="822960"/>
            <a:ext cx="4069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2F"/>
                </a:solidFill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280160"/>
            <a:ext cx="4069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▸  M1 (Watershed) collapses seasonally:
   Feb 0.713 → May 0.272  (−0.441)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865160"/>
            <a:ext cx="4069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▸  M2 (RF) declines moderately:
   Feb 0.977 → May 0.763  (−0.214)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450160"/>
            <a:ext cx="4069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▸  M3 (U-Net) most robust:
   Feb 0.977 → May 0.796  (−0.181)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3035160"/>
            <a:ext cx="4069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▸  Cause: dense May canopy raises
   background ExG; Watershed seeds
   become unreliable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620160"/>
            <a:ext cx="4069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▸  Training has NO May images —
   learning-based methods still
   generalise above IoU 0.76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05000"/>
            <a:ext cx="4480000" cy="320000"/>
          </a:xfrm>
          <a:prstGeom prst="rect">
            <a:avLst/>
          </a:prstGeom>
          <a:solidFill>
            <a:srgbClr val="FFCDD2"/>
          </a:solidFill>
          <a:ln w="1270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00" y="2605000"/>
            <a:ext cx="440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71C1C"/>
                </a:solidFill>
              </a:rPr>
              <a:t>⚠  Worst May image (20170505):  M1 IoU = 0.086  (near-total failure)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Robustness Benchmark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85953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drops 0.874→0.596 on low-contrast ×0.4  |  M3-R (orange) trained with distortion augmentation recovers to 0.762  (+0.166)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Training Data Reduction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3949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777240"/>
            <a:ext cx="30175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Shape 3"/>
          <p:cNvSpPr/>
          <p:nvPr/>
        </p:nvSpPr>
        <p:spPr>
          <a:xfrm>
            <a:off x="5852160" y="777240"/>
            <a:ext cx="301752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4"/>
          <p:cNvSpPr/>
          <p:nvPr/>
        </p:nvSpPr>
        <p:spPr>
          <a:xfrm>
            <a:off x="5852160" y="777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1188720"/>
            <a:ext cx="2834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flat at 0.415 — unsupervised, ignores training data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at 25% (35 imgs) already reaches 0.848 ≈ full-data 0.850 — highly sample-efficient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improves steadily: 0.852 → 0.874 (+0.022)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 beyond 50% for both supervised methods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 = 42 ensures reproducibility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generalises well from limited labelled data; M3 benefits from full data but the gain is modest on this 142-image dataset.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09728" cy="19659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475488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M3 outperforms M2?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316736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learns spatial context across entire image, not per-pixel features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capture both local texture and global structure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optimisation targets boundary quality directly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109728" cy="196596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4910328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M1 underperforms?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0328" y="1316736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score assumes consistent colour — fails under shadows / lighting change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 seed placement breaks when background ExG rises and canopy coverage grows in May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from data — cannot adapt to dataset-specific appearance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109728" cy="1965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475488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M2 is surprisingly strong?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419856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26-dim features span colour spaces, local statistics, vegetation indices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subspace selection makes RF robust to irrelevant features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35 images needed to reach 0.848 — very sample-efficient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148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109728" cy="196596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4910328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M3-R robustness trade-off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0328" y="3419856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Distortion augmentation closes the 0.278 contrast-gap to 0.112  (+0.166 IoU)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performance drops only −0.013 — acceptable trade-off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augmentation strategy effective for distribution shift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120640" cy="3383280"/>
          </a:xfrm>
          <a:prstGeom prst="rect">
            <a:avLst/>
          </a:prstGeom>
          <a:solidFill>
            <a:srgbClr val="2D6A4F"/>
          </a:solidFill>
          <a:ln w="63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meaningfully different methods: classical (M1), ML (M2), DL (M3)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U-Net achieves best test IoU = 0.874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robustness weakness: M3 IoU drops to 0.596 under low contrast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M3-R with distortion augmentation → restored to 0.762 (+0.166)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reduction: M2 sample-efficient; M3 benefits from full 142-image set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960120"/>
            <a:ext cx="3200400" cy="3383280"/>
          </a:xfrm>
          <a:prstGeom prst="rect">
            <a:avLst/>
          </a:prstGeom>
          <a:solidFill>
            <a:srgbClr val="2D4A3E"/>
          </a:solidFill>
          <a:ln w="635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5760720" y="10058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0" y="1389888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backbone (ResNet encoder U-Net)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 learning for unlabelled data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augmentation for robustness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Multi-season temporal modelling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adaptation (SAM, DepthCropSeg++)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212080" cy="804672"/>
          </a:xfrm>
          <a:prstGeom prst="rect">
            <a:avLst/>
          </a:prstGeom>
          <a:solidFill>
            <a:srgbClr val="0F241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— Install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-e 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5212080" cy="804672"/>
          </a:xfrm>
          <a:prstGeom prst="rect">
            <a:avLst/>
          </a:prstGeom>
          <a:solidFill>
            <a:srgbClr val="0F19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— Run Method 3 (best)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segment-image --config configs/method_3_ews.json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5212080" cy="804672"/>
          </a:xfrm>
          <a:prstGeom prst="rect">
            <a:avLst/>
          </a:prstGeom>
          <a:solidFill>
            <a:srgbClr val="33190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— Robustness benchmark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PYTHONPATH=src python scripts/run_robustness.py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5212080" cy="804672"/>
          </a:xfrm>
          <a:prstGeom prst="rect">
            <a:avLst/>
          </a:prstGeom>
          <a:solidFill>
            <a:srgbClr val="0F241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— Data reduction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PYTHONPATH=src python scripts/run_data_reduction.py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822960"/>
            <a:ext cx="3108960" cy="3749040"/>
          </a:xfrm>
          <a:prstGeom prst="rect">
            <a:avLst/>
          </a:prstGeom>
          <a:solidFill>
            <a:srgbClr val="14141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5852160" y="868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1261872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outputs/method_3/runs/…/test/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summary.json  (IoU = 0.874)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overlay/*.png  (segmentation overlay)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panel/*.png   (qualitative panel)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outputs/robustness/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summary.json  (9×4 IoU table)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method_*/robustness_results.csv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results/  (pre-computed, in repo)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report reviewer cross-check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1830</Words>
  <Application>Microsoft Macintosh PowerPoint</Application>
  <PresentationFormat>On-screen Show (16:9)</PresentationFormat>
  <Paragraphs>371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Wheat Crop Segmentation — COMP9517 Group Project</dc:title>
  <dc:subject>PptxGenJS Presentation</dc:subject>
  <dc:creator>PptxGenJS</dc:creator>
  <cp:lastModifiedBy>Mengyang Yuan</cp:lastModifiedBy>
  <cp:revision>3</cp:revision>
  <dcterms:created xsi:type="dcterms:W3CDTF">2026-04-18T14:49:03Z</dcterms:created>
  <dcterms:modified xsi:type="dcterms:W3CDTF">2026-04-19T11:31:35Z</dcterms:modified>
</cp:coreProperties>
</file>